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 spend most of this on what the model gets wrong and why, because that turned out to be more interesting than the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200 images, about 118 nuclei each. Draw a line around each one separately, and score it against outlines a human drew by hand. The hard part is telling apart nuclei that touch.
Ten seconds.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files look like they label each nucleus with its own ID. They don't — they only use three values, arranged so touching nuclei never share one. Take the pixel value as the object ID and the whole field collapses to three objects. Binarise and run connected components instead — the careful next guess — and every touching clump still fuses: 100 instead of 118 in this field. Either way your score goes UP, because the hard cases disappear from the test.
I checked my decoding two ways: it recovers 23,617 objects, matching what the dataset documentation reports, and the count is identical under 4- and 8-connectivity.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pretrained model for the segmenting, and wrote a classical pipeline from scratch as a comparison. The piece that mattered most was a cache: testing a setting took 8.8 seconds per image, and I got it to 0.11 — about 72× faster, with byte-identical output. That's the median-based figure; the mean says 81×, but the first call includes loading the checkpoint, so 72× is the honest one. Everything after this depends on it.
Pre-empts 'did you just call a library.' Don't be defensive, just state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the headline. But it's an average of ten increasingly strict judgments, and it's worth asking where it's actually losing points.
Deliberately anticlimactic. You're setting up the pivot.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the loosest setting, it finds 93% correctly. At the strictest, 31%. The two strictest settings cause 54% of the total loss. Everything else — every missed object, every wrongly merged pair — is under 4% of it. So if I want to improve the number, that's where it lives.
This is the pivot slide. Everything before was setup. Slow down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score at that strictness your outline must match the human's to within about half a pixel. So I asked whether a hand tracing is even that precise, using the image itself as a referee — two different definitions of where an edge is.
They give opposite answers. Brightness-halfway favours the human in 67% of fields; edge-steepness favours the model in 96%. And the gradient measure is the one to weight, because it's reference-free — both outlines are divided by the same local contrast, so any calibration error cancels. The half-maximum measure needs 0.5 to be correctly located, and on this data it isn't: both outlines read about 0.40, not 0.50.
Two reasonable definitions ranking them oppositely is itself the evidence that those strict thresholds are settling a convention rather than measuring correctness. Do NOT claim the annotation is wrong. Go straight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first version of this said the model was closer, in 48 of 49 images. Someone suggested that might be an artifact of how I sampled pixels along each outline. So I built a test with a known right answer — human's outline exactly on the edge, model's slightly outside it — and my measurement picked the wrong one nine times out of nine.
I'd been sampling the ring of pixels just inside each outline, which sits half a pixel in, the same size as the effect. And it isn't common-mode: it favours whichever outline is larger, which is the model's. So the artifact alone could have produced the entire original result. I fixed the sampling, re-ran, and my headline finding inverted. So I retracted it.
This is the best slide in the deck. Don't rush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 the boundary question aside — of the objects it genuinely misses, the median is 20 pixels against 622 for a normal nucleus. 81% are under 100. Above 400 pixels it misses 9 out of 4,773, which is 0.2%. And the model finds 98% of bright objects but only 86% of faint ones. So it's one population: small and faint.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There's a transition. Under about 15 pixels the annotation sits on visually empty background — that's label noise. Between 20 and 100 they're real but very faint. Above 100 they're unmistakable nuclei the model genuinely got wrong.
So I can't dismiss the misses as bad labels, and I can't dismiss them as model failures either. Both are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of these was motivated by a measurement, and each failure eliminated a cause. The score didn't move — but I know why for every one.
The bandit one is the embarrassing one, and worth owning: bandits exist to save evaluations, and my own 72× cache made evaluations cheap enough that brute force won. I killed the premise myself.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wrote down what I expected before running the last one: upscaling would recover small objects and leave merges alone. The opposite happened. Small objects didn't move at all — 265 to 266. But merges dropped by a third, 103 to 69.
So resolution isn't why small objects are missed, and merging isn't the immovable problem I'd argued it was. The score stayed flat because it traded merges for splits — 24 splits up to 36 — but the error profile changed substantially, and I could only see that because I count those separately.
CLOSING LINE: The score is roughly where a pretrained model puts it, and I couldn't move it. What I have instead is a map of which errors are reachable, which are definitional, and which are noise — and I can tell you which is which.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A"/>
        </a:solidFill>
      </p:bgPr>
    </p:bg>
    <p:spTree>
      <p:nvGrpSpPr>
        <p:cNvPr id="1" name=""/>
        <p:cNvGrpSpPr/>
        <p:nvPr/>
      </p:nvGrpSpPr>
      <p:grpSpPr>
        <a:xfrm>
          <a:off x="0" y="0"/>
          <a:ext cx="0" cy="0"/>
          <a:chOff x="0" y="0"/>
          <a:chExt cx="0" cy="0"/>
        </a:xfrm>
      </p:grpSpPr>
      <p:sp>
        <p:nvSpPr>
          <p:cNvPr id="2" name="Shape 0"/>
          <p:cNvSpPr/>
          <p:nvPr/>
        </p:nvSpPr>
        <p:spPr>
          <a:xfrm>
            <a:off x="9357055" y="-1371600"/>
            <a:ext cx="4206240" cy="4206240"/>
          </a:xfrm>
          <a:prstGeom prst="ellipse">
            <a:avLst/>
          </a:prstGeom>
          <a:solidFill>
            <a:srgbClr val="1B3050"/>
          </a:solidFill>
          <a:ln/>
        </p:spPr>
      </p:sp>
      <p:sp>
        <p:nvSpPr>
          <p:cNvPr id="3" name="Text 1"/>
          <p:cNvSpPr/>
          <p:nvPr/>
        </p:nvSpPr>
        <p:spPr>
          <a:xfrm>
            <a:off x="886968" y="1975104"/>
            <a:ext cx="9509760" cy="86868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Segmenting individual nuclei</a:t>
            </a:r>
            <a:endParaRPr lang="en-US" sz="4200" dirty="0"/>
          </a:p>
        </p:txBody>
      </p:sp>
      <p:sp>
        <p:nvSpPr>
          <p:cNvPr id="4" name="Text 2"/>
          <p:cNvSpPr/>
          <p:nvPr/>
        </p:nvSpPr>
        <p:spPr>
          <a:xfrm>
            <a:off x="886968" y="2889504"/>
            <a:ext cx="9509760" cy="566928"/>
          </a:xfrm>
          <a:prstGeom prst="rect">
            <a:avLst/>
          </a:prstGeom>
          <a:noFill/>
          <a:ln/>
        </p:spPr>
        <p:txBody>
          <a:bodyPr wrap="square" lIns="0" tIns="0" rIns="0" bIns="0" rtlCol="0" anchor="ctr"/>
          <a:lstStyle/>
          <a:p>
            <a:pPr indent="0" marL="0">
              <a:buNone/>
            </a:pPr>
            <a:r>
              <a:rPr lang="en-US" sz="2500" dirty="0">
                <a:solidFill>
                  <a:srgbClr val="EB6834"/>
                </a:solidFill>
                <a:latin typeface="Cambria" pitchFamily="34" charset="0"/>
                <a:ea typeface="Cambria" pitchFamily="34" charset="-122"/>
                <a:cs typeface="Cambria" pitchFamily="34" charset="-120"/>
              </a:rPr>
              <a:t>and auditing the benchmark that scores it</a:t>
            </a:r>
            <a:endParaRPr lang="en-US" sz="2500" dirty="0"/>
          </a:p>
        </p:txBody>
      </p:sp>
      <p:sp>
        <p:nvSpPr>
          <p:cNvPr id="5" name="Text 3"/>
          <p:cNvSpPr/>
          <p:nvPr/>
        </p:nvSpPr>
        <p:spPr>
          <a:xfrm>
            <a:off x="886968" y="3968496"/>
            <a:ext cx="7315200" cy="3657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Tejas Sukesh</a:t>
            </a:r>
            <a:endParaRPr lang="en-US" sz="1600" dirty="0"/>
          </a:p>
        </p:txBody>
      </p:sp>
      <p:sp>
        <p:nvSpPr>
          <p:cNvPr id="6" name="Text 4"/>
          <p:cNvSpPr/>
          <p:nvPr/>
        </p:nvSpPr>
        <p:spPr>
          <a:xfrm>
            <a:off x="886968" y="4370832"/>
            <a:ext cx="7315200" cy="365760"/>
          </a:xfrm>
          <a:prstGeom prst="rect">
            <a:avLst/>
          </a:prstGeom>
          <a:noFill/>
          <a:ln/>
        </p:spPr>
        <p:txBody>
          <a:bodyPr wrap="square" lIns="0" tIns="0" rIns="0" bIns="0" rtlCol="0" anchor="ctr"/>
          <a:lstStyle/>
          <a:p>
            <a:pPr indent="0" marL="0">
              <a:buNone/>
            </a:pPr>
            <a:r>
              <a:rPr lang="en-US" sz="1300" dirty="0">
                <a:solidFill>
                  <a:srgbClr val="9DB0C9"/>
                </a:solidFill>
                <a:latin typeface="Calibri" pitchFamily="34" charset="0"/>
                <a:ea typeface="Calibri" pitchFamily="34" charset="-122"/>
                <a:cs typeface="Calibri" pitchFamily="34" charset="-120"/>
              </a:rPr>
              <a:t>BBBC039  ·  200 fields  ·  23,617 hand-annotated nuclei</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The task</a:t>
            </a:r>
            <a:endParaRPr lang="en-US" sz="2700" dirty="0"/>
          </a:p>
        </p:txBody>
      </p:sp>
      <p:pic>
        <p:nvPicPr>
          <p:cNvPr id="5" name="Image 0" descr="/Users/tejas/Take_Home_Neo/figures/slide2_the_task.png">    </p:cNvPr>
          <p:cNvPicPr>
            <a:picLocks noChangeAspect="1"/>
          </p:cNvPicPr>
          <p:nvPr/>
        </p:nvPicPr>
        <p:blipFill>
          <a:blip r:embed="rId1"/>
          <a:stretch>
            <a:fillRect/>
          </a:stretch>
        </p:blipFill>
        <p:spPr>
          <a:xfrm>
            <a:off x="566928" y="1515978"/>
            <a:ext cx="11057839" cy="433810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The trap in the data</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The masks are a 3-colour graph colouring, not instance IDs</a:t>
            </a:r>
            <a:endParaRPr lang="en-US" sz="1400" dirty="0"/>
          </a:p>
        </p:txBody>
      </p:sp>
      <p:pic>
        <p:nvPicPr>
          <p:cNvPr id="6" name="Image 0" descr="/Users/tejas/Take_Home_Neo/figures/slide3_the_trap.png">    </p:cNvPr>
          <p:cNvPicPr>
            <a:picLocks noChangeAspect="1"/>
          </p:cNvPicPr>
          <p:nvPr/>
        </p:nvPicPr>
        <p:blipFill>
          <a:blip r:embed="rId1"/>
          <a:stretch>
            <a:fillRect/>
          </a:stretch>
        </p:blipFill>
        <p:spPr>
          <a:xfrm>
            <a:off x="566928" y="1628533"/>
            <a:ext cx="11057839" cy="3189455"/>
          </a:xfrm>
          <a:prstGeom prst="rect">
            <a:avLst/>
          </a:prstGeom>
        </p:spPr>
      </p:pic>
      <p:sp>
        <p:nvSpPr>
          <p:cNvPr id="7" name="Shape 4"/>
          <p:cNvSpPr/>
          <p:nvPr/>
        </p:nvSpPr>
        <p:spPr>
          <a:xfrm>
            <a:off x="566928" y="5321808"/>
            <a:ext cx="3484778" cy="841248"/>
          </a:xfrm>
          <a:prstGeom prst="roundRect">
            <a:avLst>
              <a:gd name="adj" fmla="val 10870"/>
            </a:avLst>
          </a:prstGeom>
          <a:solidFill>
            <a:srgbClr val="F4F3EF"/>
          </a:solidFill>
          <a:ln/>
        </p:spPr>
      </p:sp>
      <p:sp>
        <p:nvSpPr>
          <p:cNvPr id="8" name="Text 5"/>
          <p:cNvSpPr/>
          <p:nvPr/>
        </p:nvSpPr>
        <p:spPr>
          <a:xfrm>
            <a:off x="731520" y="5321808"/>
            <a:ext cx="1371600" cy="841248"/>
          </a:xfrm>
          <a:prstGeom prst="rect">
            <a:avLst/>
          </a:prstGeom>
          <a:noFill/>
          <a:ln/>
        </p:spPr>
        <p:txBody>
          <a:bodyPr wrap="square" lIns="0" tIns="0" rIns="0" bIns="0" rtlCol="0" anchor="ctr"/>
          <a:lstStyle/>
          <a:p>
            <a:pPr algn="l" indent="0" marL="0">
              <a:buNone/>
            </a:pPr>
            <a:r>
              <a:rPr lang="en-US" sz="3000" b="1" dirty="0">
                <a:solidFill>
                  <a:srgbClr val="A32E22"/>
                </a:solidFill>
                <a:latin typeface="Cambria" pitchFamily="34" charset="0"/>
                <a:ea typeface="Cambria" pitchFamily="34" charset="-122"/>
                <a:cs typeface="Cambria" pitchFamily="34" charset="-120"/>
              </a:rPr>
              <a:t>3</a:t>
            </a:r>
            <a:endParaRPr lang="en-US" sz="3000" dirty="0"/>
          </a:p>
        </p:txBody>
      </p:sp>
      <p:sp>
        <p:nvSpPr>
          <p:cNvPr id="9" name="Text 6"/>
          <p:cNvSpPr/>
          <p:nvPr/>
        </p:nvSpPr>
        <p:spPr>
          <a:xfrm>
            <a:off x="2048256" y="5321808"/>
            <a:ext cx="1884578" cy="841248"/>
          </a:xfrm>
          <a:prstGeom prst="rect">
            <a:avLst/>
          </a:prstGeom>
          <a:noFill/>
          <a:ln/>
        </p:spPr>
        <p:txBody>
          <a:bodyPr wrap="square" lIns="0" tIns="0" rIns="0" bIns="0" rtlCol="0" anchor="ctr"/>
          <a:lstStyle/>
          <a:p>
            <a:pPr algn="l" indent="0" marL="0">
              <a:buNone/>
            </a:pPr>
            <a:r>
              <a:rPr lang="en-US" sz="1300" dirty="0">
                <a:solidFill>
                  <a:srgbClr val="52514E"/>
                </a:solidFill>
                <a:latin typeface="Calibri" pitchFamily="34" charset="0"/>
                <a:ea typeface="Calibri" pitchFamily="34" charset="-122"/>
                <a:cs typeface="Calibri" pitchFamily="34" charset="-120"/>
              </a:rPr>
              <a:t>read as IDs</a:t>
            </a:r>
            <a:endParaRPr lang="en-US" sz="1300" dirty="0"/>
          </a:p>
        </p:txBody>
      </p:sp>
      <p:sp>
        <p:nvSpPr>
          <p:cNvPr id="10" name="Shape 7"/>
          <p:cNvSpPr/>
          <p:nvPr/>
        </p:nvSpPr>
        <p:spPr>
          <a:xfrm>
            <a:off x="4252874" y="5321808"/>
            <a:ext cx="3484778" cy="841248"/>
          </a:xfrm>
          <a:prstGeom prst="roundRect">
            <a:avLst>
              <a:gd name="adj" fmla="val 10870"/>
            </a:avLst>
          </a:prstGeom>
          <a:solidFill>
            <a:srgbClr val="F4F3EF"/>
          </a:solidFill>
          <a:ln/>
        </p:spPr>
      </p:sp>
      <p:sp>
        <p:nvSpPr>
          <p:cNvPr id="11" name="Text 8"/>
          <p:cNvSpPr/>
          <p:nvPr/>
        </p:nvSpPr>
        <p:spPr>
          <a:xfrm>
            <a:off x="4417466" y="5321808"/>
            <a:ext cx="1371600" cy="841248"/>
          </a:xfrm>
          <a:prstGeom prst="rect">
            <a:avLst/>
          </a:prstGeom>
          <a:noFill/>
          <a:ln/>
        </p:spPr>
        <p:txBody>
          <a:bodyPr wrap="square" lIns="0" tIns="0" rIns="0" bIns="0" rtlCol="0" anchor="ctr"/>
          <a:lstStyle/>
          <a:p>
            <a:pPr algn="l" indent="0" marL="0">
              <a:buNone/>
            </a:pPr>
            <a:r>
              <a:rPr lang="en-US" sz="3000" b="1" dirty="0">
                <a:solidFill>
                  <a:srgbClr val="EB6834"/>
                </a:solidFill>
                <a:latin typeface="Cambria" pitchFamily="34" charset="0"/>
                <a:ea typeface="Cambria" pitchFamily="34" charset="-122"/>
                <a:cs typeface="Cambria" pitchFamily="34" charset="-120"/>
              </a:rPr>
              <a:t>100</a:t>
            </a:r>
            <a:endParaRPr lang="en-US" sz="3000" dirty="0"/>
          </a:p>
        </p:txBody>
      </p:sp>
      <p:sp>
        <p:nvSpPr>
          <p:cNvPr id="12" name="Text 9"/>
          <p:cNvSpPr/>
          <p:nvPr/>
        </p:nvSpPr>
        <p:spPr>
          <a:xfrm>
            <a:off x="5734202" y="5321808"/>
            <a:ext cx="1884578" cy="841248"/>
          </a:xfrm>
          <a:prstGeom prst="rect">
            <a:avLst/>
          </a:prstGeom>
          <a:noFill/>
          <a:ln/>
        </p:spPr>
        <p:txBody>
          <a:bodyPr wrap="square" lIns="0" tIns="0" rIns="0" bIns="0" rtlCol="0" anchor="ctr"/>
          <a:lstStyle/>
          <a:p>
            <a:pPr algn="l" indent="0" marL="0">
              <a:buNone/>
            </a:pPr>
            <a:r>
              <a:rPr lang="en-US" sz="1300" dirty="0">
                <a:solidFill>
                  <a:srgbClr val="52514E"/>
                </a:solidFill>
                <a:latin typeface="Calibri" pitchFamily="34" charset="0"/>
                <a:ea typeface="Calibri" pitchFamily="34" charset="-122"/>
                <a:cs typeface="Calibri" pitchFamily="34" charset="-120"/>
              </a:rPr>
              <a:t>binarise + label</a:t>
            </a:r>
            <a:endParaRPr lang="en-US" sz="1300" dirty="0"/>
          </a:p>
        </p:txBody>
      </p:sp>
      <p:sp>
        <p:nvSpPr>
          <p:cNvPr id="13" name="Shape 10"/>
          <p:cNvSpPr/>
          <p:nvPr/>
        </p:nvSpPr>
        <p:spPr>
          <a:xfrm>
            <a:off x="7938821" y="5321808"/>
            <a:ext cx="3484778" cy="841248"/>
          </a:xfrm>
          <a:prstGeom prst="roundRect">
            <a:avLst>
              <a:gd name="adj" fmla="val 10870"/>
            </a:avLst>
          </a:prstGeom>
          <a:solidFill>
            <a:srgbClr val="F4F3EF"/>
          </a:solidFill>
          <a:ln/>
        </p:spPr>
      </p:sp>
      <p:sp>
        <p:nvSpPr>
          <p:cNvPr id="14" name="Text 11"/>
          <p:cNvSpPr/>
          <p:nvPr/>
        </p:nvSpPr>
        <p:spPr>
          <a:xfrm>
            <a:off x="8103413" y="5321808"/>
            <a:ext cx="1371600" cy="841248"/>
          </a:xfrm>
          <a:prstGeom prst="rect">
            <a:avLst/>
          </a:prstGeom>
          <a:noFill/>
          <a:ln/>
        </p:spPr>
        <p:txBody>
          <a:bodyPr wrap="square" lIns="0" tIns="0" rIns="0" bIns="0" rtlCol="0" anchor="ctr"/>
          <a:lstStyle/>
          <a:p>
            <a:pPr algn="l" indent="0" marL="0">
              <a:buNone/>
            </a:pPr>
            <a:r>
              <a:rPr lang="en-US" sz="3000" b="1" dirty="0">
                <a:solidFill>
                  <a:srgbClr val="1E6F4C"/>
                </a:solidFill>
                <a:latin typeface="Cambria" pitchFamily="34" charset="0"/>
                <a:ea typeface="Cambria" pitchFamily="34" charset="-122"/>
                <a:cs typeface="Cambria" pitchFamily="34" charset="-120"/>
              </a:rPr>
              <a:t>118</a:t>
            </a:r>
            <a:endParaRPr lang="en-US" sz="3000" dirty="0"/>
          </a:p>
        </p:txBody>
      </p:sp>
      <p:sp>
        <p:nvSpPr>
          <p:cNvPr id="15" name="Text 12"/>
          <p:cNvSpPr/>
          <p:nvPr/>
        </p:nvSpPr>
        <p:spPr>
          <a:xfrm>
            <a:off x="9420149" y="5321808"/>
            <a:ext cx="1884578" cy="841248"/>
          </a:xfrm>
          <a:prstGeom prst="rect">
            <a:avLst/>
          </a:prstGeom>
          <a:noFill/>
          <a:ln/>
        </p:spPr>
        <p:txBody>
          <a:bodyPr wrap="square" lIns="0" tIns="0" rIns="0" bIns="0" rtlCol="0" anchor="ctr"/>
          <a:lstStyle/>
          <a:p>
            <a:pPr algn="l" indent="0" marL="0">
              <a:buNone/>
            </a:pPr>
            <a:r>
              <a:rPr lang="en-US" sz="1300" dirty="0">
                <a:solidFill>
                  <a:srgbClr val="52514E"/>
                </a:solidFill>
                <a:latin typeface="Calibri" pitchFamily="34" charset="0"/>
                <a:ea typeface="Calibri" pitchFamily="34" charset="-122"/>
                <a:cs typeface="Calibri" pitchFamily="34" charset="-120"/>
              </a:rPr>
              <a:t>decoded correctly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What I built</a:t>
            </a:r>
            <a:endParaRPr lang="en-US" sz="2700" dirty="0"/>
          </a:p>
        </p:txBody>
      </p:sp>
      <p:pic>
        <p:nvPicPr>
          <p:cNvPr id="5" name="Image 0" descr="/Users/tejas/Take_Home_Neo/figures/slide4_what_i_built.png">    </p:cNvPr>
          <p:cNvPicPr>
            <a:picLocks noChangeAspect="1"/>
          </p:cNvPicPr>
          <p:nvPr/>
        </p:nvPicPr>
        <p:blipFill>
          <a:blip r:embed="rId1"/>
          <a:stretch>
            <a:fillRect/>
          </a:stretch>
        </p:blipFill>
        <p:spPr>
          <a:xfrm>
            <a:off x="566928" y="1917112"/>
            <a:ext cx="11057839" cy="293233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The number</a:t>
            </a:r>
            <a:endParaRPr lang="en-US" sz="2700" dirty="0"/>
          </a:p>
        </p:txBody>
      </p:sp>
      <p:sp>
        <p:nvSpPr>
          <p:cNvPr id="5" name="Text 3"/>
          <p:cNvSpPr/>
          <p:nvPr/>
        </p:nvSpPr>
        <p:spPr>
          <a:xfrm>
            <a:off x="566928" y="1737360"/>
            <a:ext cx="11057839" cy="2286000"/>
          </a:xfrm>
          <a:prstGeom prst="rect">
            <a:avLst/>
          </a:prstGeom>
          <a:noFill/>
          <a:ln/>
        </p:spPr>
        <p:txBody>
          <a:bodyPr wrap="square" lIns="0" tIns="0" rIns="0" bIns="0" rtlCol="0" anchor="ctr"/>
          <a:lstStyle/>
          <a:p>
            <a:pPr algn="ctr" indent="0" marL="0">
              <a:buNone/>
            </a:pPr>
            <a:r>
              <a:rPr lang="en-US" sz="13000" b="1" dirty="0">
                <a:solidFill>
                  <a:srgbClr val="0B0B0B"/>
                </a:solidFill>
                <a:latin typeface="Cambria" pitchFamily="34" charset="0"/>
                <a:ea typeface="Cambria" pitchFamily="34" charset="-122"/>
                <a:cs typeface="Cambria" pitchFamily="34" charset="-120"/>
              </a:rPr>
              <a:t>0.791</a:t>
            </a:r>
            <a:endParaRPr lang="en-US" sz="13000" dirty="0"/>
          </a:p>
        </p:txBody>
      </p:sp>
      <p:sp>
        <p:nvSpPr>
          <p:cNvPr id="6" name="Text 4"/>
          <p:cNvSpPr/>
          <p:nvPr/>
        </p:nvSpPr>
        <p:spPr>
          <a:xfrm>
            <a:off x="566928" y="4041648"/>
            <a:ext cx="11057839" cy="365760"/>
          </a:xfrm>
          <a:prstGeom prst="rect">
            <a:avLst/>
          </a:prstGeom>
          <a:noFill/>
          <a:ln/>
        </p:spPr>
        <p:txBody>
          <a:bodyPr wrap="square" lIns="0" tIns="0" rIns="0" bIns="0" rtlCol="0" anchor="ctr"/>
          <a:lstStyle/>
          <a:p>
            <a:pPr algn="ctr" indent="0" marL="0">
              <a:buNone/>
            </a:pPr>
            <a:r>
              <a:rPr lang="en-US" sz="1500" dirty="0">
                <a:solidFill>
                  <a:srgbClr val="52514E"/>
                </a:solidFill>
                <a:latin typeface="Calibri" pitchFamily="34" charset="0"/>
                <a:ea typeface="Calibri" pitchFamily="34" charset="-122"/>
                <a:cs typeface="Calibri" pitchFamily="34" charset="-120"/>
              </a:rPr>
              <a:t>mean AP over IoU 0.50 : 0.05 : 0.95   ·   held-out test set, 50 fields</a:t>
            </a:r>
            <a:endParaRPr lang="en-US" sz="1500" dirty="0"/>
          </a:p>
        </p:txBody>
      </p:sp>
      <p:sp>
        <p:nvSpPr>
          <p:cNvPr id="7" name="Shape 5"/>
          <p:cNvSpPr/>
          <p:nvPr/>
        </p:nvSpPr>
        <p:spPr>
          <a:xfrm>
            <a:off x="566928" y="4846320"/>
            <a:ext cx="3551834" cy="1024128"/>
          </a:xfrm>
          <a:prstGeom prst="roundRect">
            <a:avLst>
              <a:gd name="adj" fmla="val 8929"/>
            </a:avLst>
          </a:prstGeom>
          <a:solidFill>
            <a:srgbClr val="F4F3EF"/>
          </a:solidFill>
          <a:ln/>
        </p:spPr>
      </p:sp>
      <p:sp>
        <p:nvSpPr>
          <p:cNvPr id="8" name="Text 6"/>
          <p:cNvSpPr/>
          <p:nvPr/>
        </p:nvSpPr>
        <p:spPr>
          <a:xfrm>
            <a:off x="749808" y="4974336"/>
            <a:ext cx="3186074" cy="38404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95% CI  0.766 – 0.812</a:t>
            </a:r>
            <a:endParaRPr lang="en-US" sz="1500" dirty="0"/>
          </a:p>
        </p:txBody>
      </p:sp>
      <p:sp>
        <p:nvSpPr>
          <p:cNvPr id="9" name="Text 7"/>
          <p:cNvSpPr/>
          <p:nvPr/>
        </p:nvSpPr>
        <p:spPr>
          <a:xfrm>
            <a:off x="749808" y="5340096"/>
            <a:ext cx="3186074" cy="3657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the spread that matters</a:t>
            </a:r>
            <a:endParaRPr lang="en-US" sz="1200" dirty="0"/>
          </a:p>
        </p:txBody>
      </p:sp>
      <p:sp>
        <p:nvSpPr>
          <p:cNvPr id="10" name="Shape 8"/>
          <p:cNvSpPr/>
          <p:nvPr/>
        </p:nvSpPr>
        <p:spPr>
          <a:xfrm>
            <a:off x="4319930" y="4846320"/>
            <a:ext cx="3551834" cy="1024128"/>
          </a:xfrm>
          <a:prstGeom prst="roundRect">
            <a:avLst>
              <a:gd name="adj" fmla="val 8929"/>
            </a:avLst>
          </a:prstGeom>
          <a:solidFill>
            <a:srgbClr val="F4F3EF"/>
          </a:solidFill>
          <a:ln/>
        </p:spPr>
      </p:sp>
      <p:sp>
        <p:nvSpPr>
          <p:cNvPr id="11" name="Text 9"/>
          <p:cNvSpPr/>
          <p:nvPr/>
        </p:nvSpPr>
        <p:spPr>
          <a:xfrm>
            <a:off x="4502810" y="4974336"/>
            <a:ext cx="3186074" cy="38404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F1 = 0.956</a:t>
            </a:r>
            <a:endParaRPr lang="en-US" sz="1500" dirty="0"/>
          </a:p>
        </p:txBody>
      </p:sp>
      <p:sp>
        <p:nvSpPr>
          <p:cNvPr id="12" name="Text 10"/>
          <p:cNvSpPr/>
          <p:nvPr/>
        </p:nvSpPr>
        <p:spPr>
          <a:xfrm>
            <a:off x="4502810" y="5340096"/>
            <a:ext cx="3186074" cy="3657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at the loosest threshold</a:t>
            </a:r>
            <a:endParaRPr lang="en-US" sz="1200" dirty="0"/>
          </a:p>
        </p:txBody>
      </p:sp>
      <p:sp>
        <p:nvSpPr>
          <p:cNvPr id="13" name="Shape 11"/>
          <p:cNvSpPr/>
          <p:nvPr/>
        </p:nvSpPr>
        <p:spPr>
          <a:xfrm>
            <a:off x="8072933" y="4846320"/>
            <a:ext cx="3551834" cy="1024128"/>
          </a:xfrm>
          <a:prstGeom prst="roundRect">
            <a:avLst>
              <a:gd name="adj" fmla="val 8929"/>
            </a:avLst>
          </a:prstGeom>
          <a:solidFill>
            <a:srgbClr val="F4F3EF"/>
          </a:solidFill>
          <a:ln/>
        </p:spPr>
      </p:sp>
      <p:sp>
        <p:nvSpPr>
          <p:cNvPr id="14" name="Text 12"/>
          <p:cNvSpPr/>
          <p:nvPr/>
        </p:nvSpPr>
        <p:spPr>
          <a:xfrm>
            <a:off x="8255813" y="4974336"/>
            <a:ext cx="3186074" cy="384048"/>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mean IoU  0.926</a:t>
            </a:r>
            <a:endParaRPr lang="en-US" sz="1500" dirty="0"/>
          </a:p>
        </p:txBody>
      </p:sp>
      <p:sp>
        <p:nvSpPr>
          <p:cNvPr id="15" name="Text 13"/>
          <p:cNvSpPr/>
          <p:nvPr/>
        </p:nvSpPr>
        <p:spPr>
          <a:xfrm>
            <a:off x="8255813" y="5340096"/>
            <a:ext cx="3186074" cy="365760"/>
          </a:xfrm>
          <a:prstGeom prst="rect">
            <a:avLst/>
          </a:prstGeom>
          <a:noFill/>
          <a:ln/>
        </p:spPr>
        <p:txBody>
          <a:bodyPr wrap="square" lIns="0" tIns="0" rIns="0" bIns="0" rtlCol="0" anchor="ctr"/>
          <a:lstStyle/>
          <a:p>
            <a:pPr indent="0" marL="0">
              <a:buNone/>
            </a:pPr>
            <a:r>
              <a:rPr lang="en-US" sz="1200" dirty="0">
                <a:solidFill>
                  <a:srgbClr val="52514E"/>
                </a:solidFill>
                <a:latin typeface="Calibri" pitchFamily="34" charset="0"/>
                <a:ea typeface="Calibri" pitchFamily="34" charset="-122"/>
                <a:cs typeface="Calibri" pitchFamily="34" charset="-120"/>
              </a:rPr>
              <a:t>over matched objects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Where the score is actually lost</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The two strictest thresholds cause 54% of the total loss</a:t>
            </a:r>
            <a:endParaRPr lang="en-US" sz="1400" dirty="0"/>
          </a:p>
        </p:txBody>
      </p:sp>
      <p:pic>
        <p:nvPicPr>
          <p:cNvPr id="6" name="Image 0" descr="/Users/tejas/Take_Home_Neo/figures/fig1_where_the_score_is_lost.png">    </p:cNvPr>
          <p:cNvPicPr>
            <a:picLocks noChangeAspect="1"/>
          </p:cNvPicPr>
          <p:nvPr/>
        </p:nvPicPr>
        <p:blipFill>
          <a:blip r:embed="rId1"/>
          <a:stretch>
            <a:fillRect/>
          </a:stretch>
        </p:blipFill>
        <p:spPr>
          <a:xfrm>
            <a:off x="566928" y="1478497"/>
            <a:ext cx="11057839" cy="46325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What are those strict thresholds measuring?</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Two reasonable definitions of “where the edge is” rank the outlines oppositely</a:t>
            </a:r>
            <a:endParaRPr lang="en-US" sz="1400" dirty="0"/>
          </a:p>
        </p:txBody>
      </p:sp>
      <p:pic>
        <p:nvPicPr>
          <p:cNvPr id="6" name="Image 0" descr="/Users/tejas/Take_Home_Neo/figures/fig2_annotation_ceiling.png">    </p:cNvPr>
          <p:cNvPicPr>
            <a:picLocks noChangeAspect="1"/>
          </p:cNvPicPr>
          <p:nvPr/>
        </p:nvPicPr>
        <p:blipFill>
          <a:blip r:embed="rId1"/>
          <a:stretch>
            <a:fillRect/>
          </a:stretch>
        </p:blipFill>
        <p:spPr>
          <a:xfrm>
            <a:off x="1171986" y="1371600"/>
            <a:ext cx="9847722" cy="48463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7</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I got this wrong first</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Synthetic sweep with a known right answer: ground truth exactly on the edge, prediction 0.25 px too large</a:t>
            </a:r>
            <a:endParaRPr lang="en-US" sz="1400" dirty="0"/>
          </a:p>
        </p:txBody>
      </p:sp>
      <p:sp>
        <p:nvSpPr>
          <p:cNvPr id="6" name="Shape 4"/>
          <p:cNvSpPr/>
          <p:nvPr/>
        </p:nvSpPr>
        <p:spPr>
          <a:xfrm>
            <a:off x="566928" y="1874520"/>
            <a:ext cx="11057839" cy="1225296"/>
          </a:xfrm>
          <a:prstGeom prst="roundRect">
            <a:avLst>
              <a:gd name="adj" fmla="val 8955"/>
            </a:avLst>
          </a:prstGeom>
          <a:solidFill>
            <a:srgbClr val="F4F3EF"/>
          </a:solidFill>
          <a:ln/>
        </p:spPr>
      </p:sp>
      <p:sp>
        <p:nvSpPr>
          <p:cNvPr id="7" name="Text 5"/>
          <p:cNvSpPr/>
          <p:nvPr/>
        </p:nvSpPr>
        <p:spPr>
          <a:xfrm>
            <a:off x="877824" y="1874520"/>
            <a:ext cx="4206240" cy="1225296"/>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my first version</a:t>
            </a:r>
            <a:endParaRPr lang="en-US" sz="1500" dirty="0"/>
          </a:p>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inner-boundary ring</a:t>
            </a:r>
            <a:endParaRPr lang="en-US" sz="1500" dirty="0"/>
          </a:p>
        </p:txBody>
      </p:sp>
      <p:sp>
        <p:nvSpPr>
          <p:cNvPr id="8" name="Text 6"/>
          <p:cNvSpPr/>
          <p:nvPr/>
        </p:nvSpPr>
        <p:spPr>
          <a:xfrm>
            <a:off x="5230368" y="1874520"/>
            <a:ext cx="2103120" cy="1225296"/>
          </a:xfrm>
          <a:prstGeom prst="rect">
            <a:avLst/>
          </a:prstGeom>
          <a:noFill/>
          <a:ln/>
        </p:spPr>
        <p:txBody>
          <a:bodyPr wrap="square" lIns="0" tIns="0" rIns="0" bIns="0" rtlCol="0" anchor="ctr"/>
          <a:lstStyle/>
          <a:p>
            <a:pPr algn="ctr" indent="0" marL="0">
              <a:buNone/>
            </a:pPr>
            <a:r>
              <a:rPr lang="en-US" sz="4000" b="1" dirty="0">
                <a:solidFill>
                  <a:srgbClr val="A32E22"/>
                </a:solidFill>
                <a:latin typeface="Cambria" pitchFamily="34" charset="0"/>
                <a:ea typeface="Cambria" pitchFamily="34" charset="-122"/>
                <a:cs typeface="Cambria" pitchFamily="34" charset="-120"/>
              </a:rPr>
              <a:t>9 of 9</a:t>
            </a:r>
            <a:endParaRPr lang="en-US" sz="4000" dirty="0"/>
          </a:p>
        </p:txBody>
      </p:sp>
      <p:sp>
        <p:nvSpPr>
          <p:cNvPr id="9" name="Text 7"/>
          <p:cNvSpPr/>
          <p:nvPr/>
        </p:nvSpPr>
        <p:spPr>
          <a:xfrm>
            <a:off x="7516368" y="1874520"/>
            <a:ext cx="3840480" cy="1225296"/>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picked the wrong outline</a:t>
            </a:r>
            <a:endParaRPr lang="en-US" sz="1400" dirty="0"/>
          </a:p>
        </p:txBody>
      </p:sp>
      <p:sp>
        <p:nvSpPr>
          <p:cNvPr id="10" name="Shape 8"/>
          <p:cNvSpPr/>
          <p:nvPr/>
        </p:nvSpPr>
        <p:spPr>
          <a:xfrm>
            <a:off x="566928" y="3355848"/>
            <a:ext cx="11057839" cy="1225296"/>
          </a:xfrm>
          <a:prstGeom prst="roundRect">
            <a:avLst>
              <a:gd name="adj" fmla="val 8955"/>
            </a:avLst>
          </a:prstGeom>
          <a:solidFill>
            <a:srgbClr val="F4F3EF"/>
          </a:solidFill>
          <a:ln/>
        </p:spPr>
      </p:sp>
      <p:sp>
        <p:nvSpPr>
          <p:cNvPr id="11" name="Text 9"/>
          <p:cNvSpPr/>
          <p:nvPr/>
        </p:nvSpPr>
        <p:spPr>
          <a:xfrm>
            <a:off x="877824" y="3355848"/>
            <a:ext cx="4206240" cy="1225296"/>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after the fix</a:t>
            </a:r>
            <a:endParaRPr lang="en-US" sz="1500" dirty="0"/>
          </a:p>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marching-squares contour</a:t>
            </a:r>
            <a:endParaRPr lang="en-US" sz="1500" dirty="0"/>
          </a:p>
        </p:txBody>
      </p:sp>
      <p:sp>
        <p:nvSpPr>
          <p:cNvPr id="12" name="Text 10"/>
          <p:cNvSpPr/>
          <p:nvPr/>
        </p:nvSpPr>
        <p:spPr>
          <a:xfrm>
            <a:off x="5230368" y="3355848"/>
            <a:ext cx="2103120" cy="1225296"/>
          </a:xfrm>
          <a:prstGeom prst="rect">
            <a:avLst/>
          </a:prstGeom>
          <a:noFill/>
          <a:ln/>
        </p:spPr>
        <p:txBody>
          <a:bodyPr wrap="square" lIns="0" tIns="0" rIns="0" bIns="0" rtlCol="0" anchor="ctr"/>
          <a:lstStyle/>
          <a:p>
            <a:pPr algn="ctr" indent="0" marL="0">
              <a:buNone/>
            </a:pPr>
            <a:r>
              <a:rPr lang="en-US" sz="4000" b="1" dirty="0">
                <a:solidFill>
                  <a:srgbClr val="1E6F4C"/>
                </a:solidFill>
                <a:latin typeface="Cambria" pitchFamily="34" charset="0"/>
                <a:ea typeface="Cambria" pitchFamily="34" charset="-122"/>
                <a:cs typeface="Cambria" pitchFamily="34" charset="-120"/>
              </a:rPr>
              <a:t>0 of 9</a:t>
            </a:r>
            <a:endParaRPr lang="en-US" sz="4000" dirty="0"/>
          </a:p>
        </p:txBody>
      </p:sp>
      <p:sp>
        <p:nvSpPr>
          <p:cNvPr id="13" name="Text 11"/>
          <p:cNvSpPr/>
          <p:nvPr/>
        </p:nvSpPr>
        <p:spPr>
          <a:xfrm>
            <a:off x="7516368" y="3355848"/>
            <a:ext cx="3840480" cy="1225296"/>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picked correctly</a:t>
            </a:r>
            <a:endParaRPr lang="en-US" sz="1400" dirty="0"/>
          </a:p>
        </p:txBody>
      </p:sp>
      <p:sp>
        <p:nvSpPr>
          <p:cNvPr id="14" name="Text 12"/>
          <p:cNvSpPr/>
          <p:nvPr/>
        </p:nvSpPr>
        <p:spPr>
          <a:xfrm>
            <a:off x="566928" y="5138928"/>
            <a:ext cx="11057839" cy="457200"/>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The original claim reported the model closer in 48 of 49 fields. It did not survive. I retracted it.</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8</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What actually fails</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One population: small and faint</a:t>
            </a:r>
            <a:endParaRPr lang="en-US" sz="1400" dirty="0"/>
          </a:p>
        </p:txBody>
      </p:sp>
      <p:pic>
        <p:nvPicPr>
          <p:cNvPr id="6" name="Image 0" descr="/Users/tejas/Take_Home_Neo/figures/fig3_what_gets_missed.png">    </p:cNvPr>
          <p:cNvPicPr>
            <a:picLocks noChangeAspect="1"/>
          </p:cNvPicPr>
          <p:nvPr/>
        </p:nvPicPr>
        <p:blipFill>
          <a:blip r:embed="rId1"/>
          <a:stretch>
            <a:fillRect/>
          </a:stretch>
        </p:blipFill>
        <p:spPr>
          <a:xfrm>
            <a:off x="566928" y="1866291"/>
            <a:ext cx="11057839" cy="385693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9</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Are those even objects?</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I couldn’t answer that from a table, so I looked</a:t>
            </a:r>
            <a:endParaRPr lang="en-US" sz="1400" dirty="0"/>
          </a:p>
        </p:txBody>
      </p:sp>
      <p:pic>
        <p:nvPicPr>
          <p:cNvPr id="6" name="Image 0" descr="/Users/tejas/Take_Home_Neo/figures/fig6_are_these_nuclei.png">    </p:cNvPr>
          <p:cNvPicPr>
            <a:picLocks noChangeAspect="1"/>
          </p:cNvPicPr>
          <p:nvPr/>
        </p:nvPicPr>
        <p:blipFill>
          <a:blip r:embed="rId1"/>
          <a:stretch>
            <a:fillRect/>
          </a:stretch>
        </p:blipFill>
        <p:spPr>
          <a:xfrm>
            <a:off x="3515182" y="1371600"/>
            <a:ext cx="5161331" cy="4846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10</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0B0B0B"/>
                </a:solidFill>
                <a:latin typeface="Cambria" pitchFamily="34" charset="0"/>
                <a:ea typeface="Cambria" pitchFamily="34" charset="-122"/>
                <a:cs typeface="Cambria" pitchFamily="34" charset="-120"/>
              </a:rPr>
              <a:t>Six experiments, five null</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52514E"/>
                </a:solidFill>
                <a:latin typeface="Calibri" pitchFamily="34" charset="0"/>
                <a:ea typeface="Calibri" pitchFamily="34" charset="-122"/>
                <a:cs typeface="Calibri" pitchFamily="34" charset="-120"/>
              </a:rPr>
              <a:t>Each was motivated by a measurement, and each failure eliminated a cause</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481328"/>
          <a:ext cx="11057839" cy="914400"/>
        </p:xfrm>
        <a:graphic>
          <a:graphicData uri="http://schemas.openxmlformats.org/drawingml/2006/table">
            <a:tbl>
              <a:tblPr/>
              <a:tblGrid>
                <a:gridCol w="3931920"/>
                <a:gridCol w="7123176"/>
              </a:tblGrid>
              <a:tr h="566928">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 tried</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12233A"/>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it ruled out</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12233A"/>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Threshold tuning</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Defaults already optimal</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Size filter</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Admits more noise than signal</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Bandit search</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Lost to brute force — my own speedup removed the need</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Averaging flipped copies</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Errors are consistent, not random</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2× upscaling</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Small objects aren’t a resolution problem</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Local brightness rebalancing</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400" dirty="0">
                          <a:solidFill>
                            <a:srgbClr val="0B0B0B"/>
                          </a:solidFill>
                          <a:latin typeface="Calibri" pitchFamily="34" charset="0"/>
                          <a:ea typeface="Calibri" pitchFamily="34" charset="-122"/>
                          <a:cs typeface="Calibri" pitchFamily="34" charset="-120"/>
                        </a:rPr>
                        <a:t>Faint objects are faint absolutely, not relatively</a:t>
                      </a:r>
                      <a:endParaRPr lang="en-US" sz="14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3A"/>
        </a:solidFill>
      </p:bgPr>
    </p:bg>
    <p:spTree>
      <p:nvGrpSpPr>
        <p:cNvPr id="1" name=""/>
        <p:cNvGrpSpPr/>
        <p:nvPr/>
      </p:nvGrpSpPr>
      <p:grpSpPr>
        <a:xfrm>
          <a:off x="0" y="0"/>
          <a:ext cx="0" cy="0"/>
          <a:chOff x="0" y="0"/>
          <a:chExt cx="0" cy="0"/>
        </a:xfrm>
      </p:grpSpPr>
      <p:sp>
        <p:nvSpPr>
          <p:cNvPr id="2" name="Shape 0"/>
          <p:cNvSpPr/>
          <p:nvPr/>
        </p:nvSpPr>
        <p:spPr>
          <a:xfrm>
            <a:off x="566928" y="384048"/>
            <a:ext cx="384048" cy="384048"/>
          </a:xfrm>
          <a:prstGeom prst="ellipse">
            <a:avLst/>
          </a:prstGeom>
          <a:solidFill>
            <a:srgbClr val="EB6834"/>
          </a:solidFill>
          <a:ln/>
        </p:spPr>
      </p:sp>
      <p:sp>
        <p:nvSpPr>
          <p:cNvPr id="3" name="Text 1"/>
          <p:cNvSpPr/>
          <p:nvPr/>
        </p:nvSpPr>
        <p:spPr>
          <a:xfrm>
            <a:off x="566928" y="3840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11</a:t>
            </a:r>
            <a:endParaRPr lang="en-US" sz="1500" dirty="0"/>
          </a:p>
        </p:txBody>
      </p:sp>
      <p:sp>
        <p:nvSpPr>
          <p:cNvPr id="4" name="Text 2"/>
          <p:cNvSpPr/>
          <p:nvPr/>
        </p:nvSpPr>
        <p:spPr>
          <a:xfrm>
            <a:off x="1133856" y="329184"/>
            <a:ext cx="10490911" cy="512064"/>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The one that broke its prediction</a:t>
            </a:r>
            <a:endParaRPr lang="en-US" sz="2700" dirty="0"/>
          </a:p>
        </p:txBody>
      </p:sp>
      <p:sp>
        <p:nvSpPr>
          <p:cNvPr id="5" name="Text 3"/>
          <p:cNvSpPr/>
          <p:nvPr/>
        </p:nvSpPr>
        <p:spPr>
          <a:xfrm>
            <a:off x="1133856" y="868680"/>
            <a:ext cx="10490911" cy="310896"/>
          </a:xfrm>
          <a:prstGeom prst="rect">
            <a:avLst/>
          </a:prstGeom>
          <a:noFill/>
          <a:ln/>
        </p:spPr>
        <p:txBody>
          <a:bodyPr wrap="square" lIns="0" tIns="0" rIns="0" bIns="0" rtlCol="0" anchor="ctr"/>
          <a:lstStyle/>
          <a:p>
            <a:pPr indent="0" marL="0">
              <a:buNone/>
            </a:pPr>
            <a:r>
              <a:rPr lang="en-US" sz="1400" i="1" dirty="0">
                <a:solidFill>
                  <a:srgbClr val="9DB0C9"/>
                </a:solidFill>
                <a:latin typeface="Calibri" pitchFamily="34" charset="0"/>
                <a:ea typeface="Calibri" pitchFamily="34" charset="-122"/>
                <a:cs typeface="Calibri" pitchFamily="34" charset="-120"/>
              </a:rPr>
              <a:t>I wrote down what I expected before running it. The opposite happened.</a:t>
            </a:r>
            <a:endParaRPr lang="en-US" sz="1400" dirty="0"/>
          </a:p>
        </p:txBody>
      </p:sp>
      <p:sp>
        <p:nvSpPr>
          <p:cNvPr id="6" name="Shape 4"/>
          <p:cNvSpPr/>
          <p:nvPr/>
        </p:nvSpPr>
        <p:spPr>
          <a:xfrm>
            <a:off x="566928" y="1627632"/>
            <a:ext cx="5346040" cy="3200400"/>
          </a:xfrm>
          <a:prstGeom prst="roundRect">
            <a:avLst>
              <a:gd name="adj" fmla="val 3429"/>
            </a:avLst>
          </a:prstGeom>
          <a:solidFill>
            <a:srgbClr val="1B3050"/>
          </a:solidFill>
          <a:ln/>
        </p:spPr>
      </p:sp>
      <p:sp>
        <p:nvSpPr>
          <p:cNvPr id="7" name="Text 5"/>
          <p:cNvSpPr/>
          <p:nvPr/>
        </p:nvSpPr>
        <p:spPr>
          <a:xfrm>
            <a:off x="877824" y="1828800"/>
            <a:ext cx="4724248"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Merges</a:t>
            </a:r>
            <a:endParaRPr lang="en-US" sz="1700" dirty="0"/>
          </a:p>
        </p:txBody>
      </p:sp>
      <p:sp>
        <p:nvSpPr>
          <p:cNvPr id="8" name="Text 6"/>
          <p:cNvSpPr/>
          <p:nvPr/>
        </p:nvSpPr>
        <p:spPr>
          <a:xfrm>
            <a:off x="877824" y="2212848"/>
            <a:ext cx="4724248" cy="329184"/>
          </a:xfrm>
          <a:prstGeom prst="rect">
            <a:avLst/>
          </a:prstGeom>
          <a:noFill/>
          <a:ln/>
        </p:spPr>
        <p:txBody>
          <a:bodyPr wrap="square" lIns="0" tIns="0" rIns="0" bIns="0" rtlCol="0" anchor="ctr"/>
          <a:lstStyle/>
          <a:p>
            <a:pPr indent="0" marL="0">
              <a:buNone/>
            </a:pPr>
            <a:r>
              <a:rPr lang="en-US" sz="1250" i="1" dirty="0">
                <a:solidFill>
                  <a:srgbClr val="8095B0"/>
                </a:solidFill>
                <a:latin typeface="Calibri" pitchFamily="34" charset="0"/>
                <a:ea typeface="Calibri" pitchFamily="34" charset="-122"/>
                <a:cs typeface="Calibri" pitchFamily="34" charset="-120"/>
              </a:rPr>
              <a:t>predicted: unchanged</a:t>
            </a:r>
            <a:endParaRPr lang="en-US" sz="1250" dirty="0"/>
          </a:p>
        </p:txBody>
      </p:sp>
      <p:sp>
        <p:nvSpPr>
          <p:cNvPr id="9" name="Text 7"/>
          <p:cNvSpPr/>
          <p:nvPr/>
        </p:nvSpPr>
        <p:spPr>
          <a:xfrm>
            <a:off x="877824" y="2743200"/>
            <a:ext cx="4724248" cy="914400"/>
          </a:xfrm>
          <a:prstGeom prst="rect">
            <a:avLst/>
          </a:prstGeom>
          <a:noFill/>
          <a:ln/>
        </p:spPr>
        <p:txBody>
          <a:bodyPr wrap="square" lIns="0" tIns="0" rIns="0" bIns="0" rtlCol="0" anchor="ctr"/>
          <a:lstStyle/>
          <a:p>
            <a:pPr indent="0" marL="0">
              <a:buNone/>
            </a:pPr>
            <a:r>
              <a:rPr lang="en-US" sz="4600" b="1" dirty="0">
                <a:solidFill>
                  <a:srgbClr val="8095B0"/>
                </a:solidFill>
                <a:latin typeface="Cambria" pitchFamily="34" charset="0"/>
                <a:ea typeface="Cambria" pitchFamily="34" charset="-122"/>
                <a:cs typeface="Cambria" pitchFamily="34" charset="-120"/>
              </a:rPr>
              <a:t>103</a:t>
            </a:r>
            <a:pPr indent="0" marL="0">
              <a:buNone/>
            </a:pPr>
            <a:r>
              <a:rPr lang="en-US" sz="2600" dirty="0">
                <a:solidFill>
                  <a:srgbClr val="8095B0"/>
                </a:solidFill>
                <a:latin typeface="Cambria" pitchFamily="34" charset="0"/>
                <a:ea typeface="Cambria" pitchFamily="34" charset="-122"/>
                <a:cs typeface="Cambria" pitchFamily="34" charset="-120"/>
              </a:rPr>
              <a:t>   →   </a:t>
            </a:r>
            <a:pPr indent="0" marL="0">
              <a:buNone/>
            </a:pPr>
            <a:r>
              <a:rPr lang="en-US" sz="4600" b="1" dirty="0">
                <a:solidFill>
                  <a:srgbClr val="EB6834"/>
                </a:solidFill>
                <a:latin typeface="Cambria" pitchFamily="34" charset="0"/>
                <a:ea typeface="Cambria" pitchFamily="34" charset="-122"/>
                <a:cs typeface="Cambria" pitchFamily="34" charset="-120"/>
              </a:rPr>
              <a:t>69</a:t>
            </a:r>
            <a:endParaRPr lang="en-US" sz="4600" dirty="0"/>
          </a:p>
        </p:txBody>
      </p:sp>
      <p:sp>
        <p:nvSpPr>
          <p:cNvPr id="10" name="Text 8"/>
          <p:cNvSpPr/>
          <p:nvPr/>
        </p:nvSpPr>
        <p:spPr>
          <a:xfrm>
            <a:off x="877824" y="3877056"/>
            <a:ext cx="4724248" cy="40233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dropped by a third</a:t>
            </a:r>
            <a:endParaRPr lang="en-US" sz="1500" dirty="0"/>
          </a:p>
        </p:txBody>
      </p:sp>
      <p:sp>
        <p:nvSpPr>
          <p:cNvPr id="11" name="Shape 9"/>
          <p:cNvSpPr/>
          <p:nvPr/>
        </p:nvSpPr>
        <p:spPr>
          <a:xfrm>
            <a:off x="6278728" y="1627632"/>
            <a:ext cx="5346040" cy="3200400"/>
          </a:xfrm>
          <a:prstGeom prst="roundRect">
            <a:avLst>
              <a:gd name="adj" fmla="val 3429"/>
            </a:avLst>
          </a:prstGeom>
          <a:solidFill>
            <a:srgbClr val="1B3050"/>
          </a:solidFill>
          <a:ln/>
        </p:spPr>
      </p:sp>
      <p:sp>
        <p:nvSpPr>
          <p:cNvPr id="12" name="Text 10"/>
          <p:cNvSpPr/>
          <p:nvPr/>
        </p:nvSpPr>
        <p:spPr>
          <a:xfrm>
            <a:off x="6589624" y="1828800"/>
            <a:ext cx="4724248" cy="384048"/>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Misses under 50 px</a:t>
            </a:r>
            <a:endParaRPr lang="en-US" sz="1700" dirty="0"/>
          </a:p>
        </p:txBody>
      </p:sp>
      <p:sp>
        <p:nvSpPr>
          <p:cNvPr id="13" name="Text 11"/>
          <p:cNvSpPr/>
          <p:nvPr/>
        </p:nvSpPr>
        <p:spPr>
          <a:xfrm>
            <a:off x="6589624" y="2212848"/>
            <a:ext cx="4724248" cy="329184"/>
          </a:xfrm>
          <a:prstGeom prst="rect">
            <a:avLst/>
          </a:prstGeom>
          <a:noFill/>
          <a:ln/>
        </p:spPr>
        <p:txBody>
          <a:bodyPr wrap="square" lIns="0" tIns="0" rIns="0" bIns="0" rtlCol="0" anchor="ctr"/>
          <a:lstStyle/>
          <a:p>
            <a:pPr indent="0" marL="0">
              <a:buNone/>
            </a:pPr>
            <a:r>
              <a:rPr lang="en-US" sz="1250" i="1" dirty="0">
                <a:solidFill>
                  <a:srgbClr val="8095B0"/>
                </a:solidFill>
                <a:latin typeface="Calibri" pitchFamily="34" charset="0"/>
                <a:ea typeface="Calibri" pitchFamily="34" charset="-122"/>
                <a:cs typeface="Calibri" pitchFamily="34" charset="-120"/>
              </a:rPr>
              <a:t>predicted: recovered</a:t>
            </a:r>
            <a:endParaRPr lang="en-US" sz="1250" dirty="0"/>
          </a:p>
        </p:txBody>
      </p:sp>
      <p:sp>
        <p:nvSpPr>
          <p:cNvPr id="14" name="Text 12"/>
          <p:cNvSpPr/>
          <p:nvPr/>
        </p:nvSpPr>
        <p:spPr>
          <a:xfrm>
            <a:off x="6589624" y="2743200"/>
            <a:ext cx="4724248" cy="914400"/>
          </a:xfrm>
          <a:prstGeom prst="rect">
            <a:avLst/>
          </a:prstGeom>
          <a:noFill/>
          <a:ln/>
        </p:spPr>
        <p:txBody>
          <a:bodyPr wrap="square" lIns="0" tIns="0" rIns="0" bIns="0" rtlCol="0" anchor="ctr"/>
          <a:lstStyle/>
          <a:p>
            <a:pPr indent="0" marL="0">
              <a:buNone/>
            </a:pPr>
            <a:r>
              <a:rPr lang="en-US" sz="4600" b="1" dirty="0">
                <a:solidFill>
                  <a:srgbClr val="8095B0"/>
                </a:solidFill>
                <a:latin typeface="Cambria" pitchFamily="34" charset="0"/>
                <a:ea typeface="Cambria" pitchFamily="34" charset="-122"/>
                <a:cs typeface="Cambria" pitchFamily="34" charset="-120"/>
              </a:rPr>
              <a:t>265</a:t>
            </a:r>
            <a:pPr indent="0" marL="0">
              <a:buNone/>
            </a:pPr>
            <a:r>
              <a:rPr lang="en-US" sz="2600" dirty="0">
                <a:solidFill>
                  <a:srgbClr val="8095B0"/>
                </a:solidFill>
                <a:latin typeface="Cambria" pitchFamily="34" charset="0"/>
                <a:ea typeface="Cambria" pitchFamily="34" charset="-122"/>
                <a:cs typeface="Cambria" pitchFamily="34" charset="-120"/>
              </a:rPr>
              <a:t>   →   </a:t>
            </a:r>
            <a:pPr indent="0" marL="0">
              <a:buNone/>
            </a:pPr>
            <a:r>
              <a:rPr lang="en-US" sz="4600" b="1" dirty="0">
                <a:solidFill>
                  <a:srgbClr val="9DB0C9"/>
                </a:solidFill>
                <a:latin typeface="Cambria" pitchFamily="34" charset="0"/>
                <a:ea typeface="Cambria" pitchFamily="34" charset="-122"/>
                <a:cs typeface="Cambria" pitchFamily="34" charset="-120"/>
              </a:rPr>
              <a:t>266</a:t>
            </a:r>
            <a:endParaRPr lang="en-US" sz="4600" dirty="0"/>
          </a:p>
        </p:txBody>
      </p:sp>
      <p:sp>
        <p:nvSpPr>
          <p:cNvPr id="15" name="Text 13"/>
          <p:cNvSpPr/>
          <p:nvPr/>
        </p:nvSpPr>
        <p:spPr>
          <a:xfrm>
            <a:off x="6589624" y="3877056"/>
            <a:ext cx="4724248" cy="402336"/>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did not move at all</a:t>
            </a:r>
            <a:endParaRPr lang="en-US" sz="1500" dirty="0"/>
          </a:p>
        </p:txBody>
      </p:sp>
      <p:sp>
        <p:nvSpPr>
          <p:cNvPr id="16" name="Text 14"/>
          <p:cNvSpPr/>
          <p:nvPr/>
        </p:nvSpPr>
        <p:spPr>
          <a:xfrm>
            <a:off x="566928" y="5047488"/>
            <a:ext cx="11057839" cy="457200"/>
          </a:xfrm>
          <a:prstGeom prst="rect">
            <a:avLst/>
          </a:prstGeom>
          <a:noFill/>
          <a:ln/>
        </p:spPr>
        <p:txBody>
          <a:bodyPr wrap="square" lIns="0" tIns="0" rIns="0" bIns="0" rtlCol="0" anchor="ctr"/>
          <a:lstStyle/>
          <a:p>
            <a:pPr indent="0" marL="0">
              <a:buNone/>
            </a:pPr>
            <a:r>
              <a:rPr lang="en-US" sz="1600" b="1" dirty="0">
                <a:solidFill>
                  <a:srgbClr val="EB6834"/>
                </a:solidFill>
                <a:latin typeface="Calibri" pitchFamily="34" charset="0"/>
                <a:ea typeface="Calibri" pitchFamily="34" charset="-122"/>
                <a:cs typeface="Calibri" pitchFamily="34" charset="-120"/>
              </a:rPr>
              <a:t>Resolution isn’t why small objects are missed — and merging isn’t the immovable problem I’d argued it was.</a:t>
            </a:r>
            <a:endParaRPr lang="en-US" sz="1600" dirty="0"/>
          </a:p>
        </p:txBody>
      </p:sp>
      <p:sp>
        <p:nvSpPr>
          <p:cNvPr id="17" name="Text 15"/>
          <p:cNvSpPr/>
          <p:nvPr/>
        </p:nvSpPr>
        <p:spPr>
          <a:xfrm>
            <a:off x="566928" y="5504688"/>
            <a:ext cx="11057839" cy="457200"/>
          </a:xfrm>
          <a:prstGeom prst="rect">
            <a:avLst/>
          </a:prstGeom>
          <a:noFill/>
          <a:ln/>
        </p:spPr>
        <p:txBody>
          <a:bodyPr wrap="square" lIns="0" tIns="0" rIns="0" bIns="0" rtlCol="0" anchor="ctr"/>
          <a:lstStyle/>
          <a:p>
            <a:pPr indent="0" marL="0">
              <a:buNone/>
            </a:pPr>
            <a:r>
              <a:rPr lang="en-US" sz="1300" dirty="0">
                <a:solidFill>
                  <a:srgbClr val="9DB0C9"/>
                </a:solidFill>
                <a:latin typeface="Calibri" pitchFamily="34" charset="0"/>
                <a:ea typeface="Calibri" pitchFamily="34" charset="-122"/>
                <a:cs typeface="Calibri" pitchFamily="34" charset="-120"/>
              </a:rPr>
              <a:t>AP stayed flat (0.807 → 0.809) because it traded merges for splits. The error profile changed substantially — visible only because those are counted separately.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384048"/>
          </a:xfrm>
          <a:prstGeom prst="roundRect">
            <a:avLst>
              <a:gd name="adj" fmla="val 19048"/>
            </a:avLst>
          </a:prstGeom>
          <a:solidFill>
            <a:srgbClr val="52514E"/>
          </a:solidFill>
          <a:ln/>
        </p:spPr>
      </p:sp>
      <p:sp>
        <p:nvSpPr>
          <p:cNvPr id="3" name="Text 1"/>
          <p:cNvSpPr/>
          <p:nvPr/>
        </p:nvSpPr>
        <p:spPr>
          <a:xfrm>
            <a:off x="566928" y="384048"/>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B1</a:t>
            </a:r>
            <a:endParaRPr lang="en-US" sz="1300" dirty="0"/>
          </a:p>
        </p:txBody>
      </p:sp>
      <p:sp>
        <p:nvSpPr>
          <p:cNvPr id="4" name="Text 2"/>
          <p:cNvSpPr/>
          <p:nvPr/>
        </p:nvSpPr>
        <p:spPr>
          <a:xfrm>
            <a:off x="1316736" y="329184"/>
            <a:ext cx="10308031" cy="512064"/>
          </a:xfrm>
          <a:prstGeom prst="rect">
            <a:avLst/>
          </a:prstGeom>
          <a:noFill/>
          <a:ln/>
        </p:spPr>
        <p:txBody>
          <a:bodyPr wrap="square" lIns="0" tIns="0" rIns="0" bIns="0" rtlCol="0" anchor="ctr"/>
          <a:lstStyle/>
          <a:p>
            <a:pPr indent="0" marL="0">
              <a:buNone/>
            </a:pPr>
            <a:r>
              <a:rPr lang="en-US" sz="2500" b="1" dirty="0">
                <a:solidFill>
                  <a:srgbClr val="0B0B0B"/>
                </a:solidFill>
                <a:latin typeface="Cambria" pitchFamily="34" charset="0"/>
                <a:ea typeface="Cambria" pitchFamily="34" charset="-122"/>
                <a:cs typeface="Cambria" pitchFamily="34" charset="-120"/>
              </a:rPr>
              <a:t>Did the model see this data?</a:t>
            </a:r>
            <a:endParaRPr lang="en-US" sz="2500" dirty="0"/>
          </a:p>
        </p:txBody>
      </p:sp>
      <p:sp>
        <p:nvSpPr>
          <p:cNvPr id="5" name="Text 3"/>
          <p:cNvSpPr/>
          <p:nvPr/>
        </p:nvSpPr>
        <p:spPr>
          <a:xfrm>
            <a:off x="1316736" y="868680"/>
            <a:ext cx="10308031" cy="310896"/>
          </a:xfrm>
          <a:prstGeom prst="rect">
            <a:avLst/>
          </a:prstGeom>
          <a:noFill/>
          <a:ln/>
        </p:spPr>
        <p:txBody>
          <a:bodyPr wrap="square" lIns="0" tIns="0" rIns="0" bIns="0" rtlCol="0" anchor="ctr"/>
          <a:lstStyle/>
          <a:p>
            <a:pPr indent="0" marL="0">
              <a:buNone/>
            </a:pPr>
            <a:r>
              <a:rPr lang="en-US" sz="1350" i="1" dirty="0">
                <a:solidFill>
                  <a:srgbClr val="52514E"/>
                </a:solidFill>
                <a:latin typeface="Calibri" pitchFamily="34" charset="0"/>
                <a:ea typeface="Calibri" pitchFamily="34" charset="-122"/>
                <a:cs typeface="Calibri" pitchFamily="34" charset="-120"/>
              </a:rPr>
              <a:t>Raise it yourself if it comes up naturally — it reads as rigour</a:t>
            </a:r>
            <a:endParaRPr lang="en-US" sz="1350" dirty="0"/>
          </a:p>
        </p:txBody>
      </p:sp>
      <p:sp>
        <p:nvSpPr>
          <p:cNvPr id="6" name="Text 4"/>
          <p:cNvSpPr/>
          <p:nvPr/>
        </p:nvSpPr>
        <p:spPr>
          <a:xfrm>
            <a:off x="749808" y="1600200"/>
            <a:ext cx="10692079" cy="2926080"/>
          </a:xfrm>
          <a:prstGeom prst="rect">
            <a:avLst/>
          </a:prstGeom>
          <a:noFill/>
          <a:ln/>
        </p:spPr>
        <p:txBody>
          <a:bodyPr wrap="square" lIns="0" tIns="0" rIns="0" bIns="0" rtlCol="0" anchor="ctr"/>
          <a:lstStyle/>
          <a:p>
            <a:pPr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Cellpose-SAM's training corpus includes the 2018 Data Science Bowl.</a:t>
            </a:r>
            <a:endParaRPr lang="en-US" sz="1700" dirty="0"/>
          </a:p>
          <a:p>
            <a:pPr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BBBC039's own dataset page states some of its images appear in that collection.</a:t>
            </a:r>
            <a:endParaRPr lang="en-US" sz="1700" dirty="0"/>
          </a:p>
          <a:p>
            <a:pPr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So the test score is not cleanly held out, and I don't claim it is.</a:t>
            </a:r>
            <a:endParaRPr lang="en-US" sz="1700" dirty="0"/>
          </a:p>
          <a:p>
            <a:pPr marL="342900" indent="-342900">
              <a:spcAft>
                <a:spcPts val="1200"/>
              </a:spcAft>
              <a:buSzPct val="100000"/>
              <a:buChar char="•"/>
            </a:pPr>
            <a:r>
              <a:rPr lang="en-US" sz="1700" dirty="0">
                <a:solidFill>
                  <a:srgbClr val="0B0B0B"/>
                </a:solidFill>
                <a:latin typeface="Calibri" pitchFamily="34" charset="0"/>
                <a:ea typeface="Calibri" pitchFamily="34" charset="-122"/>
                <a:cs typeface="Calibri" pitchFamily="34" charset="-120"/>
              </a:rPr>
              <a:t>It does not affect the failure analysis, which is about error structure, not rank.</a:t>
            </a:r>
            <a:endParaRPr lang="en-US" sz="17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384048"/>
          </a:xfrm>
          <a:prstGeom prst="roundRect">
            <a:avLst>
              <a:gd name="adj" fmla="val 19048"/>
            </a:avLst>
          </a:prstGeom>
          <a:solidFill>
            <a:srgbClr val="52514E"/>
          </a:solidFill>
          <a:ln/>
        </p:spPr>
      </p:sp>
      <p:sp>
        <p:nvSpPr>
          <p:cNvPr id="3" name="Text 1"/>
          <p:cNvSpPr/>
          <p:nvPr/>
        </p:nvSpPr>
        <p:spPr>
          <a:xfrm>
            <a:off x="566928" y="384048"/>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B2</a:t>
            </a:r>
            <a:endParaRPr lang="en-US" sz="1300" dirty="0"/>
          </a:p>
        </p:txBody>
      </p:sp>
      <p:sp>
        <p:nvSpPr>
          <p:cNvPr id="4" name="Text 2"/>
          <p:cNvSpPr/>
          <p:nvPr/>
        </p:nvSpPr>
        <p:spPr>
          <a:xfrm>
            <a:off x="1316736" y="329184"/>
            <a:ext cx="10308031" cy="512064"/>
          </a:xfrm>
          <a:prstGeom prst="rect">
            <a:avLst/>
          </a:prstGeom>
          <a:noFill/>
          <a:ln/>
        </p:spPr>
        <p:txBody>
          <a:bodyPr wrap="square" lIns="0" tIns="0" rIns="0" bIns="0" rtlCol="0" anchor="ctr"/>
          <a:lstStyle/>
          <a:p>
            <a:pPr indent="0" marL="0">
              <a:buNone/>
            </a:pPr>
            <a:r>
              <a:rPr lang="en-US" sz="2500" b="1" dirty="0">
                <a:solidFill>
                  <a:srgbClr val="0B0B0B"/>
                </a:solidFill>
                <a:latin typeface="Cambria" pitchFamily="34" charset="0"/>
                <a:ea typeface="Cambria" pitchFamily="34" charset="-122"/>
                <a:cs typeface="Cambria" pitchFamily="34" charset="-120"/>
              </a:rPr>
              <a:t>The classical pipeline</a:t>
            </a:r>
            <a:endParaRPr lang="en-US" sz="2500" dirty="0"/>
          </a:p>
        </p:txBody>
      </p:sp>
      <p:sp>
        <p:nvSpPr>
          <p:cNvPr id="5" name="Text 3"/>
          <p:cNvSpPr/>
          <p:nvPr/>
        </p:nvSpPr>
        <p:spPr>
          <a:xfrm>
            <a:off x="1316736" y="868680"/>
            <a:ext cx="10308031" cy="310896"/>
          </a:xfrm>
          <a:prstGeom prst="rect">
            <a:avLst/>
          </a:prstGeom>
          <a:noFill/>
          <a:ln/>
        </p:spPr>
        <p:txBody>
          <a:bodyPr wrap="square" lIns="0" tIns="0" rIns="0" bIns="0" rtlCol="0" anchor="ctr"/>
          <a:lstStyle/>
          <a:p>
            <a:pPr indent="0" marL="0">
              <a:buNone/>
            </a:pPr>
            <a:r>
              <a:rPr lang="en-US" sz="1350" i="1" dirty="0">
                <a:solidFill>
                  <a:srgbClr val="52514E"/>
                </a:solidFill>
                <a:latin typeface="Calibri" pitchFamily="34" charset="0"/>
                <a:ea typeface="Calibri" pitchFamily="34" charset="-122"/>
                <a:cs typeface="Calibri" pitchFamily="34" charset="-120"/>
              </a:rPr>
              <a:t>Why opposite error types must be counted separately</a:t>
            </a:r>
            <a:endParaRPr lang="en-US" sz="135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66928" y="1600200"/>
          <a:ext cx="7863840" cy="914400"/>
        </p:xfrm>
        <a:graphic>
          <a:graphicData uri="http://schemas.openxmlformats.org/drawingml/2006/table">
            <a:tbl>
              <a:tblPr/>
              <a:tblGrid>
                <a:gridCol w="3291840"/>
                <a:gridCol w="2286000"/>
                <a:gridCol w="2286000"/>
              </a:tblGrid>
              <a:tr h="512064">
                <a:tc>
                  <a:txBody>
                    <a:bodyPr/>
                    <a:lstStyle/>
                    <a:p>
                      <a:pPr indent="0" marL="0">
                        <a:buNone/>
                      </a:pP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1223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Cellpose</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12233A"/>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Classical</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12233A"/>
                    </a:solidFill>
                  </a:tcPr>
                </a:tc>
              </a:tr>
              <a:tr h="512064">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Mean AP</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0.807</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0.555</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Splits</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24</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405</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12064">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Merges</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103</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169</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r h="512064">
                <a:tc>
                  <a:txBody>
                    <a:bodyPr/>
                    <a:lstStyle/>
                    <a:p>
                      <a:pPr indent="0" marL="0">
                        <a:buNone/>
                      </a:pPr>
                      <a:r>
                        <a:rPr lang="en-US" sz="1500" b="1" dirty="0">
                          <a:solidFill>
                            <a:srgbClr val="0B0B0B"/>
                          </a:solidFill>
                          <a:latin typeface="Calibri" pitchFamily="34" charset="0"/>
                          <a:ea typeface="Calibri" pitchFamily="34" charset="-122"/>
                          <a:cs typeface="Calibri" pitchFamily="34" charset="-120"/>
                        </a:rPr>
                        <a:t>Object-count bias</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dirty="0">
                          <a:solidFill>
                            <a:srgbClr val="0B0B0B"/>
                          </a:solidFill>
                          <a:latin typeface="Calibri" pitchFamily="34" charset="0"/>
                          <a:ea typeface="Calibri" pitchFamily="34" charset="-122"/>
                          <a:cs typeface="Calibri" pitchFamily="34" charset="-120"/>
                        </a:rPr>
                        <a:t>−4.51%</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c>
                  <a:txBody>
                    <a:bodyPr/>
                    <a:lstStyle/>
                    <a:p>
                      <a:pPr indent="0" marL="0">
                        <a:buNone/>
                      </a:pPr>
                      <a:r>
                        <a:rPr lang="en-US" sz="1500" b="1" dirty="0">
                          <a:solidFill>
                            <a:srgbClr val="1E6F4C"/>
                          </a:solidFill>
                          <a:latin typeface="Calibri" pitchFamily="34" charset="0"/>
                          <a:ea typeface="Calibri" pitchFamily="34" charset="-122"/>
                          <a:cs typeface="Calibri" pitchFamily="34" charset="-120"/>
                        </a:rPr>
                        <a:t>−0.19%</a:t>
                      </a:r>
                      <a:endParaRPr lang="en-US" sz="1500" dirty="0">
                        <a:latin typeface="Calibri" charset="0"/>
                        <a:ea typeface="Calibri" charset="0"/>
                        <a:cs typeface="Calibri" charset="0"/>
                      </a:endParaRPr>
                    </a:p>
                  </a:txBody>
                  <a:tcPr marL="146304" marR="146304" marT="54864" marB="54864" anchor="ctr">
                    <a:lnL w="12700" cap="flat" cmpd="sng" algn="ctr">
                      <a:solidFill>
                        <a:srgbClr val="DDDCD7"/>
                      </a:solidFill>
                      <a:prstDash val="solid"/>
                      <a:round/>
                      <a:headEnd type="none" w="med" len="med"/>
                      <a:tailEnd type="none" w="med" len="med"/>
                    </a:lnL>
                    <a:lnR w="12700" cap="flat" cmpd="sng" algn="ctr">
                      <a:solidFill>
                        <a:srgbClr val="DDDCD7"/>
                      </a:solidFill>
                      <a:prstDash val="solid"/>
                      <a:round/>
                      <a:headEnd type="none" w="med" len="med"/>
                      <a:tailEnd type="none" w="med" len="med"/>
                    </a:lnR>
                    <a:lnT w="12700" cap="flat" cmpd="sng" algn="ctr">
                      <a:solidFill>
                        <a:srgbClr val="DDDCD7"/>
                      </a:solidFill>
                      <a:prstDash val="solid"/>
                      <a:round/>
                      <a:headEnd type="none" w="med" len="med"/>
                      <a:tailEnd type="none" w="med" len="med"/>
                    </a:lnT>
                    <a:lnB w="12700" cap="flat" cmpd="sng" algn="ctr">
                      <a:solidFill>
                        <a:srgbClr val="DDDCD7"/>
                      </a:solidFill>
                      <a:prstDash val="solid"/>
                      <a:round/>
                      <a:headEnd type="none" w="med" len="med"/>
                      <a:tailEnd type="none" w="med" len="med"/>
                    </a:lnB>
                    <a:solidFill>
                      <a:srgbClr val="FFFFFF"/>
                    </a:solidFill>
                  </a:tcPr>
                </a:tc>
              </a:tr>
            </a:tbl>
          </a:graphicData>
        </a:graphic>
      </p:graphicFrame>
      <p:sp>
        <p:nvSpPr>
          <p:cNvPr id="7" name="Text 4"/>
          <p:cNvSpPr/>
          <p:nvPr/>
        </p:nvSpPr>
        <p:spPr>
          <a:xfrm>
            <a:off x="566928" y="4572000"/>
            <a:ext cx="7863840" cy="822960"/>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Best object count in the project — achieved by making 574 topology errors that cancel. A count-only metric would rank it first.</a:t>
            </a:r>
            <a:endParaRPr lang="en-US" sz="1400" dirty="0"/>
          </a:p>
        </p:txBody>
      </p:sp>
      <p:sp>
        <p:nvSpPr>
          <p:cNvPr id="8" name="Text 5"/>
          <p:cNvSpPr/>
          <p:nvPr/>
        </p:nvSpPr>
        <p:spPr>
          <a:xfrm>
            <a:off x="566928" y="5394960"/>
            <a:ext cx="7863840" cy="274320"/>
          </a:xfrm>
          <a:prstGeom prst="rect">
            <a:avLst/>
          </a:prstGeom>
          <a:noFill/>
          <a:ln/>
        </p:spPr>
        <p:txBody>
          <a:bodyPr wrap="square" lIns="0" tIns="0" rIns="0" bIns="0" rtlCol="0" anchor="ctr"/>
          <a:lstStyle/>
          <a:p>
            <a:pPr indent="0" marL="0">
              <a:buNone/>
            </a:pPr>
            <a:r>
              <a:rPr lang="en-US" sz="1100" i="1" dirty="0">
                <a:solidFill>
                  <a:srgbClr val="52514E"/>
                </a:solidFill>
                <a:latin typeface="Calibri" pitchFamily="34" charset="0"/>
                <a:ea typeface="Calibri" pitchFamily="34" charset="-122"/>
                <a:cs typeface="Calibri" pitchFamily="34" charset="-120"/>
              </a:rPr>
              <a:t>Validation split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384048"/>
          </a:xfrm>
          <a:prstGeom prst="roundRect">
            <a:avLst>
              <a:gd name="adj" fmla="val 19048"/>
            </a:avLst>
          </a:prstGeom>
          <a:solidFill>
            <a:srgbClr val="52514E"/>
          </a:solidFill>
          <a:ln/>
        </p:spPr>
      </p:sp>
      <p:sp>
        <p:nvSpPr>
          <p:cNvPr id="3" name="Text 1"/>
          <p:cNvSpPr/>
          <p:nvPr/>
        </p:nvSpPr>
        <p:spPr>
          <a:xfrm>
            <a:off x="566928" y="384048"/>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B3</a:t>
            </a:r>
            <a:endParaRPr lang="en-US" sz="1300" dirty="0"/>
          </a:p>
        </p:txBody>
      </p:sp>
      <p:sp>
        <p:nvSpPr>
          <p:cNvPr id="4" name="Text 2"/>
          <p:cNvSpPr/>
          <p:nvPr/>
        </p:nvSpPr>
        <p:spPr>
          <a:xfrm>
            <a:off x="1316736" y="329184"/>
            <a:ext cx="10308031" cy="512064"/>
          </a:xfrm>
          <a:prstGeom prst="rect">
            <a:avLst/>
          </a:prstGeom>
          <a:noFill/>
          <a:ln/>
        </p:spPr>
        <p:txBody>
          <a:bodyPr wrap="square" lIns="0" tIns="0" rIns="0" bIns="0" rtlCol="0" anchor="ctr"/>
          <a:lstStyle/>
          <a:p>
            <a:pPr indent="0" marL="0">
              <a:buNone/>
            </a:pPr>
            <a:r>
              <a:rPr lang="en-US" sz="2500" b="1" dirty="0">
                <a:solidFill>
                  <a:srgbClr val="0B0B0B"/>
                </a:solidFill>
                <a:latin typeface="Cambria" pitchFamily="34" charset="0"/>
                <a:ea typeface="Cambria" pitchFamily="34" charset="-122"/>
                <a:cs typeface="Cambria" pitchFamily="34" charset="-120"/>
              </a:rPr>
              <a:t>Worst cases</a:t>
            </a:r>
            <a:endParaRPr lang="en-US" sz="2500" dirty="0"/>
          </a:p>
        </p:txBody>
      </p:sp>
      <p:sp>
        <p:nvSpPr>
          <p:cNvPr id="5" name="Text 3"/>
          <p:cNvSpPr/>
          <p:nvPr/>
        </p:nvSpPr>
        <p:spPr>
          <a:xfrm>
            <a:off x="1316736" y="868680"/>
            <a:ext cx="10308031" cy="310896"/>
          </a:xfrm>
          <a:prstGeom prst="rect">
            <a:avLst/>
          </a:prstGeom>
          <a:noFill/>
          <a:ln/>
        </p:spPr>
        <p:txBody>
          <a:bodyPr wrap="square" lIns="0" tIns="0" rIns="0" bIns="0" rtlCol="0" anchor="ctr"/>
          <a:lstStyle/>
          <a:p>
            <a:pPr indent="0" marL="0">
              <a:buNone/>
            </a:pPr>
            <a:r>
              <a:rPr lang="en-US" sz="1350" i="1" dirty="0">
                <a:solidFill>
                  <a:srgbClr val="52514E"/>
                </a:solidFill>
                <a:latin typeface="Calibri" pitchFamily="34" charset="0"/>
                <a:ea typeface="Calibri" pitchFamily="34" charset="-122"/>
                <a:cs typeface="Calibri" pitchFamily="34" charset="-120"/>
              </a:rPr>
              <a:t>Chosen by sorting the per-image results, never by eye</a:t>
            </a:r>
            <a:endParaRPr lang="en-US" sz="1350" dirty="0"/>
          </a:p>
        </p:txBody>
      </p:sp>
      <p:pic>
        <p:nvPicPr>
          <p:cNvPr id="6" name="Image 0" descr="/Users/tejas/Take_Home_Neo/figures/worst_cases/worst_01_IXMtest_I04_s9_w16A5.png">    </p:cNvPr>
          <p:cNvPicPr>
            <a:picLocks noChangeAspect="1"/>
          </p:cNvPicPr>
          <p:nvPr/>
        </p:nvPicPr>
        <p:blipFill>
          <a:blip r:embed="rId1"/>
          <a:stretch>
            <a:fillRect/>
          </a:stretch>
        </p:blipFill>
        <p:spPr>
          <a:xfrm>
            <a:off x="566928" y="2340250"/>
            <a:ext cx="11057839" cy="2634701"/>
          </a:xfrm>
          <a:prstGeom prst="rect">
            <a:avLst/>
          </a:prstGeom>
        </p:spPr>
      </p:pic>
      <p:sp>
        <p:nvSpPr>
          <p:cNvPr id="7" name="Text 4"/>
          <p:cNvSpPr/>
          <p:nvPr/>
        </p:nvSpPr>
        <p:spPr>
          <a:xfrm>
            <a:off x="566928" y="5943600"/>
            <a:ext cx="7315200" cy="274320"/>
          </a:xfrm>
          <a:prstGeom prst="rect">
            <a:avLst/>
          </a:prstGeom>
          <a:noFill/>
          <a:ln/>
        </p:spPr>
        <p:txBody>
          <a:bodyPr wrap="square" lIns="0" tIns="0" rIns="0" bIns="0" rtlCol="0" anchor="ctr"/>
          <a:lstStyle/>
          <a:p>
            <a:pPr indent="0" marL="0">
              <a:buNone/>
            </a:pPr>
            <a:r>
              <a:rPr lang="en-US" sz="1150" i="1" dirty="0">
                <a:solidFill>
                  <a:srgbClr val="52514E"/>
                </a:solidFill>
                <a:latin typeface="Calibri" pitchFamily="34" charset="0"/>
                <a:ea typeface="Calibri" pitchFamily="34" charset="-122"/>
                <a:cs typeface="Calibri" pitchFamily="34" charset="-120"/>
              </a:rPr>
              <a:t>figures/worst_cases/ holds all four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384048"/>
          </a:xfrm>
          <a:prstGeom prst="roundRect">
            <a:avLst>
              <a:gd name="adj" fmla="val 19048"/>
            </a:avLst>
          </a:prstGeom>
          <a:solidFill>
            <a:srgbClr val="52514E"/>
          </a:solidFill>
          <a:ln/>
        </p:spPr>
      </p:sp>
      <p:sp>
        <p:nvSpPr>
          <p:cNvPr id="3" name="Text 1"/>
          <p:cNvSpPr/>
          <p:nvPr/>
        </p:nvSpPr>
        <p:spPr>
          <a:xfrm>
            <a:off x="566928" y="384048"/>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B4</a:t>
            </a:r>
            <a:endParaRPr lang="en-US" sz="1300" dirty="0"/>
          </a:p>
        </p:txBody>
      </p:sp>
      <p:sp>
        <p:nvSpPr>
          <p:cNvPr id="4" name="Text 2"/>
          <p:cNvSpPr/>
          <p:nvPr/>
        </p:nvSpPr>
        <p:spPr>
          <a:xfrm>
            <a:off x="1316736" y="329184"/>
            <a:ext cx="10308031" cy="512064"/>
          </a:xfrm>
          <a:prstGeom prst="rect">
            <a:avLst/>
          </a:prstGeom>
          <a:noFill/>
          <a:ln/>
        </p:spPr>
        <p:txBody>
          <a:bodyPr wrap="square" lIns="0" tIns="0" rIns="0" bIns="0" rtlCol="0" anchor="ctr"/>
          <a:lstStyle/>
          <a:p>
            <a:pPr indent="0" marL="0">
              <a:buNone/>
            </a:pPr>
            <a:r>
              <a:rPr lang="en-US" sz="2500" b="1" dirty="0">
                <a:solidFill>
                  <a:srgbClr val="0B0B0B"/>
                </a:solidFill>
                <a:latin typeface="Cambria" pitchFamily="34" charset="0"/>
                <a:ea typeface="Cambria" pitchFamily="34" charset="-122"/>
                <a:cs typeface="Cambria" pitchFamily="34" charset="-120"/>
              </a:rPr>
              <a:t>Per-image spread</a:t>
            </a:r>
            <a:endParaRPr lang="en-US" sz="2500" dirty="0"/>
          </a:p>
        </p:txBody>
      </p:sp>
      <p:sp>
        <p:nvSpPr>
          <p:cNvPr id="5" name="Text 3"/>
          <p:cNvSpPr/>
          <p:nvPr/>
        </p:nvSpPr>
        <p:spPr>
          <a:xfrm>
            <a:off x="1316736" y="868680"/>
            <a:ext cx="10308031" cy="310896"/>
          </a:xfrm>
          <a:prstGeom prst="rect">
            <a:avLst/>
          </a:prstGeom>
          <a:noFill/>
          <a:ln/>
        </p:spPr>
        <p:txBody>
          <a:bodyPr wrap="square" lIns="0" tIns="0" rIns="0" bIns="0" rtlCol="0" anchor="ctr"/>
          <a:lstStyle/>
          <a:p>
            <a:pPr indent="0" marL="0">
              <a:buNone/>
            </a:pPr>
            <a:r>
              <a:rPr lang="en-US" sz="1350" i="1" dirty="0">
                <a:solidFill>
                  <a:srgbClr val="52514E"/>
                </a:solidFill>
                <a:latin typeface="Calibri" pitchFamily="34" charset="0"/>
                <a:ea typeface="Calibri" pitchFamily="34" charset="-122"/>
                <a:cs typeface="Calibri" pitchFamily="34" charset="-120"/>
              </a:rPr>
              <a:t>Why every number carries a confidence interval</a:t>
            </a:r>
            <a:endParaRPr lang="en-US" sz="1350" dirty="0"/>
          </a:p>
        </p:txBody>
      </p:sp>
      <p:pic>
        <p:nvPicPr>
          <p:cNvPr id="6" name="Image 0" descr="/Users/tejas/Take_Home_Neo/figures/fig5_per_image_scores.png">    </p:cNvPr>
          <p:cNvPicPr>
            <a:picLocks noChangeAspect="1"/>
          </p:cNvPicPr>
          <p:nvPr/>
        </p:nvPicPr>
        <p:blipFill>
          <a:blip r:embed="rId1"/>
          <a:stretch>
            <a:fillRect/>
          </a:stretch>
        </p:blipFill>
        <p:spPr>
          <a:xfrm>
            <a:off x="2334738" y="1463040"/>
            <a:ext cx="7522220" cy="475488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384048"/>
          </a:xfrm>
          <a:prstGeom prst="roundRect">
            <a:avLst>
              <a:gd name="adj" fmla="val 19048"/>
            </a:avLst>
          </a:prstGeom>
          <a:solidFill>
            <a:srgbClr val="52514E"/>
          </a:solidFill>
          <a:ln/>
        </p:spPr>
      </p:sp>
      <p:sp>
        <p:nvSpPr>
          <p:cNvPr id="3" name="Text 1"/>
          <p:cNvSpPr/>
          <p:nvPr/>
        </p:nvSpPr>
        <p:spPr>
          <a:xfrm>
            <a:off x="566928" y="384048"/>
            <a:ext cx="56692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B5</a:t>
            </a:r>
            <a:endParaRPr lang="en-US" sz="1300" dirty="0"/>
          </a:p>
        </p:txBody>
      </p:sp>
      <p:sp>
        <p:nvSpPr>
          <p:cNvPr id="4" name="Text 2"/>
          <p:cNvSpPr/>
          <p:nvPr/>
        </p:nvSpPr>
        <p:spPr>
          <a:xfrm>
            <a:off x="1316736" y="329184"/>
            <a:ext cx="10308031" cy="512064"/>
          </a:xfrm>
          <a:prstGeom prst="rect">
            <a:avLst/>
          </a:prstGeom>
          <a:noFill/>
          <a:ln/>
        </p:spPr>
        <p:txBody>
          <a:bodyPr wrap="square" lIns="0" tIns="0" rIns="0" bIns="0" rtlCol="0" anchor="ctr"/>
          <a:lstStyle/>
          <a:p>
            <a:pPr indent="0" marL="0">
              <a:buNone/>
            </a:pPr>
            <a:r>
              <a:rPr lang="en-US" sz="2500" b="1" dirty="0">
                <a:solidFill>
                  <a:srgbClr val="0B0B0B"/>
                </a:solidFill>
                <a:latin typeface="Cambria" pitchFamily="34" charset="0"/>
                <a:ea typeface="Cambria" pitchFamily="34" charset="-122"/>
                <a:cs typeface="Cambria" pitchFamily="34" charset="-120"/>
              </a:rPr>
              <a:t>Merge composition</a:t>
            </a:r>
            <a:endParaRPr lang="en-US" sz="2500" dirty="0"/>
          </a:p>
        </p:txBody>
      </p:sp>
      <p:sp>
        <p:nvSpPr>
          <p:cNvPr id="5" name="Text 3"/>
          <p:cNvSpPr/>
          <p:nvPr/>
        </p:nvSpPr>
        <p:spPr>
          <a:xfrm>
            <a:off x="1316736" y="868680"/>
            <a:ext cx="10308031" cy="310896"/>
          </a:xfrm>
          <a:prstGeom prst="rect">
            <a:avLst/>
          </a:prstGeom>
          <a:noFill/>
          <a:ln/>
        </p:spPr>
        <p:txBody>
          <a:bodyPr wrap="square" lIns="0" tIns="0" rIns="0" bIns="0" rtlCol="0" anchor="ctr"/>
          <a:lstStyle/>
          <a:p>
            <a:pPr indent="0" marL="0">
              <a:buNone/>
            </a:pPr>
            <a:r>
              <a:rPr lang="en-US" sz="1350" i="1" dirty="0">
                <a:solidFill>
                  <a:srgbClr val="52514E"/>
                </a:solidFill>
                <a:latin typeface="Calibri" pitchFamily="34" charset="0"/>
                <a:ea typeface="Calibri" pitchFamily="34" charset="-122"/>
                <a:cs typeface="Calibri" pitchFamily="34" charset="-120"/>
              </a:rPr>
              <a:t>60% of “merges” are a nucleus plus a speck, not two nuclei fused</a:t>
            </a:r>
            <a:endParaRPr lang="en-US" sz="1350" dirty="0"/>
          </a:p>
        </p:txBody>
      </p:sp>
      <p:pic>
        <p:nvPicPr>
          <p:cNvPr id="6" name="Image 0" descr="/Users/tejas/Take_Home_Neo/figures/fig4_merges.png">    </p:cNvPr>
          <p:cNvPicPr>
            <a:picLocks noChangeAspect="1"/>
          </p:cNvPicPr>
          <p:nvPr/>
        </p:nvPicPr>
        <p:blipFill>
          <a:blip r:embed="rId1"/>
          <a:stretch>
            <a:fillRect/>
          </a:stretch>
        </p:blipFill>
        <p:spPr>
          <a:xfrm>
            <a:off x="2798338" y="1463040"/>
            <a:ext cx="6595019" cy="47548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Segmenting individual nuclei</dc:title>
  <dc:subject>PptxGenJS Presentation</dc:subject>
  <dc:creator>Tejas Sukesh</dc:creator>
  <cp:lastModifiedBy>Tejas Sukesh</cp:lastModifiedBy>
  <cp:revision>1</cp:revision>
  <dcterms:created xsi:type="dcterms:W3CDTF">2026-08-05T00:30:58Z</dcterms:created>
  <dcterms:modified xsi:type="dcterms:W3CDTF">2026-08-05T00:30:58Z</dcterms:modified>
</cp:coreProperties>
</file>